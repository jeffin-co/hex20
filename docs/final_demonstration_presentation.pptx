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HEX20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Onboard Telecommand Reception &amp; Routing</a:t>
            </a:r>
          </a:p>
          <a:p>
            <a:r>
              <a:t>Final Demonstration Package — M11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Receive telecommands over a noisy uplink</a:t>
            </a:r>
          </a:p>
          <a:p>
            <a:pPr>
              <a:spcAft>
                <a:spcPts val="1000"/>
              </a:spcAft>
              <a:defRPr sz="2200"/>
            </a:pPr>
            <a:r>
              <a:t>Decode and validate transfer frames and Space Packets</a:t>
            </a:r>
          </a:p>
          <a:p>
            <a:pPr>
              <a:spcAft>
                <a:spcPts val="1000"/>
              </a:spcAft>
              <a:defRPr sz="2200"/>
            </a:pPr>
            <a:r>
              <a:t>Route by APID + PUS service/subtype</a:t>
            </a:r>
          </a:p>
          <a:p>
            <a:pPr>
              <a:spcAft>
                <a:spcPts val="1000"/>
              </a:spcAft>
              <a:defRPr sz="2200"/>
            </a:pPr>
            <a:r>
              <a:t>Reject corrupted, unauthenticated, replayed and inconsistent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Noisy uplink → frame synchronization → CRC validation</a:t>
            </a:r>
          </a:p>
          <a:p>
            <a:pPr>
              <a:spcAft>
                <a:spcPts val="1000"/>
              </a:spcAft>
              <a:defRPr sz="2200"/>
            </a:pPr>
            <a:r>
              <a:t>Space Packet decoding → security gate</a:t>
            </a:r>
          </a:p>
          <a:p>
            <a:pPr>
              <a:spcAft>
                <a:spcPts val="1000"/>
              </a:spcAft>
              <a:defRPr sz="2200"/>
            </a:pPr>
            <a:r>
              <a:t>HMAC + freshness/replay check → APID/service/subtype binding</a:t>
            </a:r>
          </a:p>
          <a:p>
            <a:pPr>
              <a:spcAft>
                <a:spcPts val="1000"/>
              </a:spcAft>
              <a:defRPr sz="2200"/>
            </a:pPr>
            <a:r>
              <a:t>PUS handlers → telemetry, counters and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PUS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HKR — APID 100 / ST 3,1</a:t>
            </a:r>
          </a:p>
          <a:p>
            <a:pPr>
              <a:spcAft>
                <a:spcPts val="1000"/>
              </a:spcAft>
              <a:defRPr sz="2200"/>
            </a:pPr>
            <a:r>
              <a:t>MEM — APID 101 / ST 6,2</a:t>
            </a:r>
          </a:p>
          <a:p>
            <a:pPr>
              <a:spcAft>
                <a:spcPts val="1000"/>
              </a:spcAft>
              <a:defRPr sz="2200"/>
            </a:pPr>
            <a:r>
              <a:t>FUN — APID 102 / ST 8,128</a:t>
            </a:r>
          </a:p>
          <a:p>
            <a:pPr>
              <a:spcAft>
                <a:spcPts val="1000"/>
              </a:spcAft>
              <a:defRPr sz="2200"/>
            </a:pPr>
            <a:r>
              <a:t>CON — APID 103 / ST 17,1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Development/demo authenticated envelope</a:t>
            </a:r>
          </a:p>
          <a:p>
            <a:pPr>
              <a:spcAft>
                <a:spcPts val="1000"/>
              </a:spcAft>
              <a:defRPr sz="2200"/>
            </a:pPr>
            <a:r>
              <a:t>HMAC authentication</a:t>
            </a:r>
          </a:p>
          <a:p>
            <a:pPr>
              <a:spcAft>
                <a:spcPts val="1000"/>
              </a:spcAft>
              <a:defRPr sz="2200"/>
            </a:pPr>
            <a:r>
              <a:t>Monotonic freshness/replay protection</a:t>
            </a:r>
          </a:p>
          <a:p>
            <a:pPr>
              <a:spcAft>
                <a:spcPts val="1000"/>
              </a:spcAft>
              <a:defRPr sz="2200"/>
            </a:pPr>
            <a:r>
              <a:t>Authenticated command must match packet routing fields</a:t>
            </a:r>
          </a:p>
          <a:p>
            <a:pPr>
              <a:spcAft>
                <a:spcPts val="1000"/>
              </a:spcAft>
              <a:defRPr sz="2200"/>
            </a:pPr>
            <a:r>
              <a:t>Failures stop before command handler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1,000 deterministic scenarios</a:t>
            </a:r>
          </a:p>
          <a:p>
            <a:pPr>
              <a:spcAft>
                <a:spcPts val="1000"/>
              </a:spcAft>
              <a:defRPr sz="2200"/>
            </a:pPr>
            <a:r>
              <a:t>680 benign/acceptance cases</a:t>
            </a:r>
          </a:p>
          <a:p>
            <a:pPr>
              <a:spcAft>
                <a:spcPts val="1000"/>
              </a:spcAft>
              <a:defRPr sz="2200"/>
            </a:pPr>
            <a:r>
              <a:t>320 fault or attack cases</a:t>
            </a:r>
          </a:p>
          <a:p>
            <a:pPr>
              <a:spcAft>
                <a:spcPts val="1000"/>
              </a:spcAft>
              <a:defRPr sz="2200"/>
            </a:pPr>
            <a:r>
              <a:t>CRC, authentication, header, malformed packet and replay tests</a:t>
            </a:r>
          </a:p>
          <a:p>
            <a:pPr>
              <a:spcAft>
                <a:spcPts val="1000"/>
              </a:spcAft>
              <a:defRPr sz="2200"/>
            </a:pPr>
            <a:r>
              <a:t>Noise recovery and end-to-end routing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Streamlit dashboard built around the actual end-to-end processor</a:t>
            </a:r>
          </a:p>
          <a:p>
            <a:pPr>
              <a:spcAft>
                <a:spcPts val="1000"/>
              </a:spcAft>
              <a:defRPr sz="2200"/>
            </a:pPr>
            <a:r>
              <a:t>Command transmission for HKR/MEM/FUN/CON</a:t>
            </a:r>
          </a:p>
          <a:p>
            <a:pPr>
              <a:spcAft>
                <a:spcPts val="1000"/>
              </a:spcAft>
              <a:defRPr sz="2200"/>
            </a:pPr>
            <a:r>
              <a:t>Authentication, CRC and header fault injection</a:t>
            </a:r>
          </a:p>
          <a:p>
            <a:pPr>
              <a:spcAft>
                <a:spcPts val="1000"/>
              </a:spcAft>
              <a:defRPr sz="2200"/>
            </a:pPr>
            <a:r>
              <a:t>Event log, counters, stage/reason and latency visibility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M1–M10 implementation and verification artifacts</a:t>
            </a:r>
          </a:p>
          <a:p>
            <a:pPr>
              <a:spcAft>
                <a:spcPts val="1000"/>
              </a:spcAft>
              <a:defRPr sz="2200"/>
            </a:pPr>
            <a:r>
              <a:t>M10 JSON/CSV validation evidence</a:t>
            </a:r>
          </a:p>
          <a:p>
            <a:pPr>
              <a:spcAft>
                <a:spcPts val="1000"/>
              </a:spcAft>
              <a:defRPr sz="2200"/>
            </a:pPr>
            <a:r>
              <a:t>M11 requirements-to-verification matrix</a:t>
            </a:r>
          </a:p>
          <a:p>
            <a:pPr>
              <a:spcAft>
                <a:spcPts val="1000"/>
              </a:spcAft>
              <a:defRPr sz="2200"/>
            </a:pPr>
            <a:r>
              <a:t>Repeatable presenter checklist and demo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Software prototype; not flight qualified</a:t>
            </a:r>
          </a:p>
          <a:p>
            <a:pPr>
              <a:spcAft>
                <a:spcPts val="1000"/>
              </a:spcAft>
              <a:defRPr sz="2200"/>
            </a:pPr>
            <a:r>
              <a:t>Timing measurements are machine-dependent</a:t>
            </a:r>
          </a:p>
          <a:p>
            <a:pPr>
              <a:spcAft>
                <a:spcPts val="1000"/>
              </a:spcAft>
              <a:defRPr sz="2200"/>
            </a:pPr>
            <a:r>
              <a:t>Development security secret must not be reused</a:t>
            </a:r>
          </a:p>
          <a:p>
            <a:pPr>
              <a:spcAft>
                <a:spcPts val="1000"/>
              </a:spcAft>
              <a:defRPr sz="2200"/>
            </a:pPr>
            <a:r>
              <a:t>Production requires mission-approved cryptography, key management, exact CCSDS/PUS profile validation and hardware-in-the-loop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1. Start dashboard</a:t>
            </a:r>
          </a:p>
          <a:p>
            <a:pPr>
              <a:spcAft>
                <a:spcPts val="1000"/>
              </a:spcAft>
              <a:defRPr sz="2200"/>
            </a:pPr>
            <a:r>
              <a:t>2. Demonstrate valid HKR/MEM/FUN/CON</a:t>
            </a:r>
          </a:p>
          <a:p>
            <a:pPr>
              <a:spcAft>
                <a:spcPts val="1000"/>
              </a:spcAft>
              <a:defRPr sz="2200"/>
            </a:pPr>
            <a:r>
              <a:t>3. Trigger authentication rejection</a:t>
            </a:r>
          </a:p>
          <a:p>
            <a:pPr>
              <a:spcAft>
                <a:spcPts val="1000"/>
              </a:spcAft>
              <a:defRPr sz="2200"/>
            </a:pPr>
            <a:r>
              <a:t>4. Trigger CRC rejection</a:t>
            </a:r>
          </a:p>
          <a:p>
            <a:pPr>
              <a:spcAft>
                <a:spcPts val="1000"/>
              </a:spcAft>
              <a:defRPr sz="2200"/>
            </a:pPr>
            <a:r>
              <a:t>5. Trigger routing/header rejection</a:t>
            </a:r>
          </a:p>
          <a:p>
            <a:pPr>
              <a:spcAft>
                <a:spcPts val="1000"/>
              </a:spcAft>
              <a:defRPr sz="2200"/>
            </a:pPr>
            <a:r>
              <a:t>6. Show M10 1,000-command validation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